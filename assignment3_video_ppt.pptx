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2" r:id="rId5"/>
    <p:sldId id="260" r:id="rId6"/>
    <p:sldId id="259" r:id="rId7"/>
    <p:sldId id="265" r:id="rId8"/>
    <p:sldId id="264" r:id="rId9"/>
    <p:sldId id="263" r:id="rId10"/>
    <p:sldId id="261" r:id="rId11"/>
    <p:sldId id="266" r:id="rId12"/>
    <p:sldId id="267" r:id="rId13"/>
    <p:sldId id="269" r:id="rId14"/>
    <p:sldId id="270" r:id="rId15"/>
    <p:sldId id="272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5223" autoAdjust="0"/>
  </p:normalViewPr>
  <p:slideViewPr>
    <p:cSldViewPr snapToGrid="0">
      <p:cViewPr>
        <p:scale>
          <a:sx n="50" d="100"/>
          <a:sy n="50" d="100"/>
        </p:scale>
        <p:origin x="1650" y="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7F009-238E-459F-BA51-E3C5D0122D35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FD198-1214-413D-826C-6655AAB11E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BFD198-1214-413D-826C-6655AAB11E3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203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87D7-8DEA-A515-D098-F581AA4CD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ED18B-95DC-581B-022E-AA4D167FB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99E27-4602-1A03-AB1A-59B787A7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B4A9-F384-473E-92EC-8FE64F95DF9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35D3-A267-C1AB-8DCF-3E6510D6F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16643-4B92-6528-4DD3-93D6377E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8E60-466F-4566-81F3-92D9FF1F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55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E1702-B103-A141-4D51-46774BF3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A986E-0E12-FB8C-6390-BF8BA25B6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ADC65-6296-2B2B-6A94-5510ACCB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B4A9-F384-473E-92EC-8FE64F95DF9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C6E5D-D803-FCA2-82CC-F33F49471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89B12-5F8B-3122-91A1-3ED8DE019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8E60-466F-4566-81F3-92D9FF1F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36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24B36-FFBB-E0CA-D938-D62AC7862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183C3-2812-9B94-25F1-2F4D3946B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8DB10-FF60-838F-5FBB-20968A7B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B4A9-F384-473E-92EC-8FE64F95DF9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57669-23D5-FB67-471C-4FFC692DA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FF3D7-1D07-D7E1-8098-36E8FD53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8E60-466F-4566-81F3-92D9FF1F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87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48E98-3E38-E01C-1410-B78A9C32B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9F389-0089-27F8-B246-077AF4B47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26C75-48CD-B2D4-2AE4-655AD5D7D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4881A-C828-F303-E9D7-72F5E655A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B4A9-F384-473E-92EC-8FE64F95DF9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BF6FD-311F-ADA4-7594-5D39DE5B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ACF38-1885-C6E0-C539-B8761EF1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8E60-466F-4566-81F3-92D9FF1F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49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F6D8-679B-B1B5-09B1-04980030F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661E0-A146-5DED-1F18-DBA9319A2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BEA77-EC2D-D0B5-800A-B0E591EBC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7D351-2827-1FCE-4656-11BF65E2F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F6D65F-C9A8-F449-8965-03BD844E2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1DF70-1020-5DAB-6505-FB3ECA0B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B4A9-F384-473E-92EC-8FE64F95DF9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7D68D8-8E75-6C5F-35E0-97FC9483F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D2EB5-F0F6-5D6F-FBEC-958DC600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8E60-466F-4566-81F3-92D9FF1F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805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E855-598C-1DB5-F946-29264EFD8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F8581-F4BE-9E88-34C4-BE78C600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B4A9-F384-473E-92EC-8FE64F95DF9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61E2F-6BD0-3D64-5053-161300C0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E568B-27BE-09C6-CF35-414DB219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8E60-466F-4566-81F3-92D9FF1F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718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48F43-4041-F077-97FE-0192841E1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B4A9-F384-473E-92EC-8FE64F95DF9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5594B9-F258-CACF-5357-88F713C6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386D9-42D7-B14A-AE07-8FB00D99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8E60-466F-4566-81F3-92D9FF1F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43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02803-1AB7-F9AC-EFFC-1DDEB2E97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A6337-449E-E31E-1C42-6CC27A225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DF326-9753-EC45-BFA6-6CC9BE9E2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5F45D-4169-5B52-00F3-B7ECD167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B4A9-F384-473E-92EC-8FE64F95DF9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9AC82-A45C-05A4-8D48-DDFEEAAB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6B147-9FB1-BA2A-36D0-CFEAEDA7B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8E60-466F-4566-81F3-92D9FF1F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176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E709-AC85-9D31-E2FA-DE6D63A8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3D6E29-354B-BF53-BAA2-D9F8CA5D4A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15D8C-1F43-2309-2BD1-FC8FBB609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A1435-5A38-B0B6-F8DB-EF38AB85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B4A9-F384-473E-92EC-8FE64F95DF9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A9F05-074C-E1DD-8359-B3AA44A9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1D319-D123-62EC-ACAC-7445885B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8E60-466F-4566-81F3-92D9FF1F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86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9031A-C2CD-F38A-55B5-B29078A7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2F05C-2FCB-642F-B459-F2FF7534E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B68A-0E77-BF71-F8A9-FFB395BE9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B4A9-F384-473E-92EC-8FE64F95DF9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9C2D9-576F-854F-2D99-EF5AE79C7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7C993-DABB-F7B1-2355-D61E2A69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8E60-466F-4566-81F3-92D9FF1F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68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6F7F6-A11C-4543-E603-DE6D3EFDB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24D93-DB59-7FC7-CC99-98D2533F6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E8848-E330-0E40-6D79-E5A3B78E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B4A9-F384-473E-92EC-8FE64F95DF9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7820C-3683-AC0C-7BCF-25E029D0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EDD3C-27C6-E2A0-FA37-229ED83D1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F8E60-466F-4566-81F3-92D9FF1F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78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7AAA5B-153E-3304-FC11-460744180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7670A-5929-3895-4506-DE240BD73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BCCB0-A16C-DE7C-BF8A-F99FF6BBD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0B4A9-F384-473E-92EC-8FE64F95DF9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B1727-9C7C-1FCE-0B2D-331EC6053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5070A-0C6B-222D-1F0A-27915C65C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F8E60-466F-4566-81F3-92D9FF1FA0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39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591ABB-C01F-FA9E-C1CD-139401448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44" y="90463"/>
            <a:ext cx="10129912" cy="667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025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355C-9400-F0F4-B8B9-1653242F6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4807"/>
          </a:xfrm>
        </p:spPr>
        <p:txBody>
          <a:bodyPr/>
          <a:lstStyle/>
          <a:p>
            <a:r>
              <a:rPr lang="en-IN" b="1" dirty="0"/>
              <a:t>Hypothesis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2B524-C518-AEDD-195C-31D213771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958"/>
            <a:ext cx="10515600" cy="490600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Given topic — gaming dependency spreading among IIT Kanpur students in hostels the most natural and defensible hypothesis is:</a:t>
            </a:r>
          </a:p>
          <a:p>
            <a:r>
              <a:rPr lang="en-IN" b="1" dirty="0"/>
              <a:t>"Gaming addiction spreads not through individual weakness, but through social contagion — specifically, when a small number of highly-connected students (hub nodes) adopt Always Defect behaviour, cooperation collapses across the network."</a:t>
            </a:r>
            <a:endParaRPr lang="en-IN" dirty="0"/>
          </a:p>
          <a:p>
            <a:r>
              <a:rPr lang="en-IN" dirty="0"/>
              <a:t>This maps perfectly to our data because:</a:t>
            </a:r>
          </a:p>
          <a:p>
            <a:pPr lvl="0"/>
            <a:r>
              <a:rPr lang="en-IN" dirty="0"/>
              <a:t>Our social loneliness and social pressure antecedents already capture peer influence</a:t>
            </a:r>
          </a:p>
          <a:p>
            <a:pPr lvl="0"/>
            <a:r>
              <a:rPr lang="en-IN" dirty="0"/>
              <a:t>Hostel shared rooms = higher connectivity = more contagion</a:t>
            </a:r>
          </a:p>
          <a:p>
            <a:pPr lvl="0"/>
            <a:r>
              <a:rPr lang="en-IN" dirty="0"/>
              <a:t>The "Hub Effect in Networks" experiment is listed explicitly in the assignment</a:t>
            </a:r>
            <a:br>
              <a:rPr lang="en-IN" dirty="0"/>
            </a:br>
            <a:r>
              <a:rPr lang="en-IN" dirty="0"/>
              <a:t>Modified hypothesis: Excessive gaming is not a fixed individual trait but an emergent social equilibrium — the transition probabilities P(C→D) = 0.411 and P(D→C) = 0.350 reflect a population-level balance between peer-driven escalation and reciprocity-based recovery, whose stability is critically sensitive to network structure and the proportion of Tit-for-Tat agents in the hostel social network.</a:t>
            </a:r>
          </a:p>
        </p:txBody>
      </p:sp>
    </p:spTree>
    <p:extLst>
      <p:ext uri="{BB962C8B-B14F-4D97-AF65-F5344CB8AC3E}">
        <p14:creationId xmlns:p14="http://schemas.microsoft.com/office/powerpoint/2010/main" val="33343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77387-CEF3-D633-FA5E-26DF2907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429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The Full Conceptual Chain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FB349-5571-EB3D-0DAF-02B5A15D2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Here is how every piece connects:</a:t>
            </a:r>
          </a:p>
          <a:p>
            <a:r>
              <a:rPr lang="en-IN" b="1" dirty="0"/>
              <a:t>Step 1 — From Assignment 2, extract your transition matrix</a:t>
            </a:r>
            <a:r>
              <a:rPr lang="en-IN" dirty="0"/>
              <a:t> You already computed P(</a:t>
            </a:r>
            <a:r>
              <a:rPr lang="en-IN" dirty="0" err="1"/>
              <a:t>Low→High</a:t>
            </a:r>
            <a:r>
              <a:rPr lang="en-IN" dirty="0"/>
              <a:t>) and P(</a:t>
            </a:r>
            <a:r>
              <a:rPr lang="en-IN" dirty="0" err="1"/>
              <a:t>High→Low</a:t>
            </a:r>
            <a:r>
              <a:rPr lang="en-IN" dirty="0"/>
              <a:t>) for all 50 students. Average them. These are your P(C→D) and P(D→C) — your observed data.</a:t>
            </a:r>
          </a:p>
          <a:p>
            <a:r>
              <a:rPr lang="en-IN" b="1" dirty="0"/>
              <a:t>Step 2 — Define your IPD payoff matrix</a:t>
            </a:r>
            <a:r>
              <a:rPr lang="en-IN" dirty="0"/>
              <a:t> Map it to gaming context:</a:t>
            </a:r>
          </a:p>
          <a:p>
            <a:pPr lvl="0"/>
            <a:r>
              <a:rPr lang="en-IN" b="1" dirty="0"/>
              <a:t>R (mutual cooperation)</a:t>
            </a:r>
            <a:r>
              <a:rPr lang="en-IN" dirty="0"/>
              <a:t> = both students study/socialize → moderate wellbeing for both</a:t>
            </a:r>
          </a:p>
          <a:p>
            <a:pPr lvl="0"/>
            <a:r>
              <a:rPr lang="en-IN" b="1" dirty="0"/>
              <a:t>T (temptation)</a:t>
            </a:r>
            <a:r>
              <a:rPr lang="en-IN" dirty="0"/>
              <a:t> = you game while your friend studies → you get max entertainment, they feel social pressure</a:t>
            </a:r>
          </a:p>
          <a:p>
            <a:pPr lvl="0"/>
            <a:r>
              <a:rPr lang="en-IN" b="1" dirty="0"/>
              <a:t>S (sucker)</a:t>
            </a:r>
            <a:r>
              <a:rPr lang="en-IN" dirty="0"/>
              <a:t> = you study while your friend games → you feel left out, FOMO</a:t>
            </a:r>
          </a:p>
          <a:p>
            <a:pPr lvl="0"/>
            <a:r>
              <a:rPr lang="en-IN" b="1" dirty="0"/>
              <a:t>P (mutual defection)</a:t>
            </a:r>
            <a:r>
              <a:rPr lang="en-IN" dirty="0"/>
              <a:t> = both game excessively → both suffer academically</a:t>
            </a:r>
          </a:p>
          <a:p>
            <a:r>
              <a:rPr lang="en-IN" dirty="0"/>
              <a:t>Use R=3, T=5, P=1, S=0 as given.</a:t>
            </a:r>
          </a:p>
          <a:p>
            <a:r>
              <a:rPr lang="en-IN" b="1" dirty="0"/>
              <a:t>Step 3 — Choose strategies that make psychological sense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614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9A52E-C270-080E-91DE-C951E7C8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0EE608-AA43-2FAE-30D8-8C4ADCD40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960" y="1454929"/>
            <a:ext cx="9244080" cy="394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37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71CF4-B72C-1A0D-1401-59CFA9294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F5A74D-968D-DCB1-D4E9-1D36F796A790}"/>
              </a:ext>
            </a:extLst>
          </p:cNvPr>
          <p:cNvSpPr txBox="1"/>
          <p:nvPr/>
        </p:nvSpPr>
        <p:spPr>
          <a:xfrm>
            <a:off x="2898475" y="868392"/>
            <a:ext cx="546636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IN" dirty="0"/>
              <a:t>Payoff matrix:</a:t>
            </a:r>
          </a:p>
          <a:p>
            <a:pPr latinLnBrk="1"/>
            <a:r>
              <a:rPr lang="en-IN" dirty="0"/>
              <a:t>  C vs C → (R,R) = (3,3)     C vs D → (S,T) = (0,5)</a:t>
            </a:r>
          </a:p>
          <a:p>
            <a:pPr latinLnBrk="1"/>
            <a:r>
              <a:rPr lang="en-IN" dirty="0"/>
              <a:t>  D vs C → (T,S) = (5,0)     D vs D → (P,P) = (1,1)</a:t>
            </a:r>
          </a:p>
          <a:p>
            <a:pPr latinLnBrk="1"/>
            <a:r>
              <a:rPr lang="en-IN" dirty="0"/>
              <a:t>  Condition T&gt;R&gt;P&gt;S: 5&gt;3&gt;1&gt;0 ✓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Observed (Assignment-2):  P(C→D)=0.411  P(D→C)=0.35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D071F0-D1CC-FED0-722C-2A69003744E7}"/>
              </a:ext>
            </a:extLst>
          </p:cNvPr>
          <p:cNvSpPr txBox="1"/>
          <p:nvPr/>
        </p:nvSpPr>
        <p:spPr>
          <a:xfrm>
            <a:off x="1639019" y="3059502"/>
            <a:ext cx="87254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IN" dirty="0"/>
              <a:t>Strategy  │ Psychological profile in gaming context</a:t>
            </a:r>
          </a:p>
          <a:p>
            <a:pPr latinLnBrk="1"/>
            <a:r>
              <a:rPr lang="en-IN" dirty="0"/>
              <a:t>──────────┼──────────────────────────────────────────────────────────────</a:t>
            </a:r>
          </a:p>
          <a:p>
            <a:pPr latinLnBrk="1"/>
            <a:r>
              <a:rPr lang="en-IN" dirty="0"/>
              <a:t>  AC      │ Highly disciplined — always resists gaming, ignores peer pressure</a:t>
            </a:r>
          </a:p>
          <a:p>
            <a:pPr latinLnBrk="1"/>
            <a:r>
              <a:rPr lang="en-IN" dirty="0"/>
              <a:t>  AD      │ Habitual heavy gamer — always pulls peers toward gaming</a:t>
            </a:r>
          </a:p>
          <a:p>
            <a:pPr latinLnBrk="1"/>
            <a:r>
              <a:rPr lang="en-IN" dirty="0"/>
              <a:t>  TFT     │ Mirror student — copies roommate; reciprocates both cooperation and gaming</a:t>
            </a:r>
          </a:p>
          <a:p>
            <a:pPr latinLnBrk="1"/>
            <a:r>
              <a:rPr lang="en-IN" dirty="0"/>
              <a:t>  TF2T    │ Tolerant student — needs 2 consecutive bad days before switching to gaming</a:t>
            </a:r>
          </a:p>
          <a:p>
            <a:pPr latinLnBrk="1"/>
            <a:r>
              <a:rPr lang="en-IN" dirty="0"/>
              <a:t>  GTFT    │ Forgiving student — occasionally resets gaming habit, promotes recovery</a:t>
            </a:r>
          </a:p>
          <a:p>
            <a:pPr latinLnBrk="1"/>
            <a:r>
              <a:rPr lang="en-IN" dirty="0"/>
              <a:t>  GT      │ Once-burned student — games forever after one academic setback</a:t>
            </a:r>
          </a:p>
          <a:p>
            <a:pPr latinLnBrk="1"/>
            <a:r>
              <a:rPr lang="en-IN" dirty="0"/>
              <a:t>  STFT    │ Suspicious student — starts gaming, then mirrors; never fully trusts</a:t>
            </a:r>
          </a:p>
          <a:p>
            <a:pPr latinLnBrk="1"/>
            <a:r>
              <a:rPr lang="en-IN" dirty="0"/>
              <a:t>  RAND    │ Unpredictable — noisy, stress-driven, inconsistent behaviour</a:t>
            </a:r>
          </a:p>
          <a:p>
            <a:pPr latinLnBrk="1"/>
            <a:r>
              <a:rPr lang="en-IN" dirty="0"/>
              <a:t>  PAVLOV  │ Habit reinforcer — repeats whatever gave satisfaction last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9634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72893-7420-B01A-484A-453B31D7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E0267-3059-B34F-9F5B-D6C3859A5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777"/>
            <a:ext cx="10515600" cy="653307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Step 3 — Choose strategies that make psychological sense</a:t>
            </a:r>
            <a:endParaRPr lang="en-IN" dirty="0"/>
          </a:p>
          <a:p>
            <a:pPr lvl="0"/>
            <a:r>
              <a:rPr lang="en-IN" b="1" dirty="0"/>
              <a:t>TFT</a:t>
            </a:r>
            <a:r>
              <a:rPr lang="en-IN" dirty="0"/>
              <a:t> = a student who mirrors their roommate's </a:t>
            </a:r>
            <a:r>
              <a:rPr lang="en-IN" dirty="0" err="1"/>
              <a:t>behavior</a:t>
            </a:r>
            <a:r>
              <a:rPr lang="en-IN" dirty="0"/>
              <a:t> (most realistic for hostel life)</a:t>
            </a:r>
          </a:p>
          <a:p>
            <a:pPr lvl="0"/>
            <a:r>
              <a:rPr lang="en-IN" b="1" dirty="0"/>
              <a:t>AD</a:t>
            </a:r>
            <a:r>
              <a:rPr lang="en-IN" dirty="0"/>
              <a:t> = a student with high prior gaming history who always pulls others in</a:t>
            </a:r>
          </a:p>
          <a:p>
            <a:pPr lvl="0"/>
            <a:r>
              <a:rPr lang="en-IN" b="1" dirty="0"/>
              <a:t>AC</a:t>
            </a:r>
            <a:r>
              <a:rPr lang="en-IN" dirty="0"/>
              <a:t> = a highly disciplined student who always cooperates regardless</a:t>
            </a:r>
          </a:p>
          <a:p>
            <a:pPr lvl="0"/>
            <a:r>
              <a:rPr lang="en-IN" b="1" dirty="0"/>
              <a:t>GTFT</a:t>
            </a:r>
            <a:r>
              <a:rPr lang="en-IN" dirty="0"/>
              <a:t> = a student who occasionally forgives a friend's gaming phase</a:t>
            </a:r>
          </a:p>
          <a:p>
            <a:pPr lvl="0"/>
            <a:r>
              <a:rPr lang="en-IN" b="1" dirty="0"/>
              <a:t>Grim Trigger</a:t>
            </a:r>
            <a:r>
              <a:rPr lang="en-IN" dirty="0"/>
              <a:t> = a student who, once academically damaged, permanently disengages socially</a:t>
            </a:r>
          </a:p>
          <a:p>
            <a:r>
              <a:rPr lang="en-IN" b="1" dirty="0"/>
              <a:t>Step 4 — Build the network</a:t>
            </a:r>
            <a:r>
              <a:rPr lang="en-IN" dirty="0"/>
              <a:t> Use a </a:t>
            </a:r>
            <a:r>
              <a:rPr lang="en-IN" b="1" dirty="0"/>
              <a:t>small-world network</a:t>
            </a:r>
            <a:r>
              <a:rPr lang="en-IN" dirty="0"/>
              <a:t> (Watts-</a:t>
            </a:r>
            <a:r>
              <a:rPr lang="en-IN" dirty="0" err="1"/>
              <a:t>Strogatz</a:t>
            </a:r>
            <a:r>
              <a:rPr lang="en-IN" dirty="0"/>
              <a:t>) — this is the most realistic for a hostel. Students have strong local clusters (floor/wing friends) with a few long-range connections (clubs, classrooms). Scale-free also works if you want to test the hub hypothesis.</a:t>
            </a:r>
          </a:p>
          <a:p>
            <a:r>
              <a:rPr lang="en-IN" b="1" dirty="0"/>
              <a:t>Step 5 — Run the simulation and match</a:t>
            </a:r>
            <a:r>
              <a:rPr lang="en-IN" dirty="0"/>
              <a:t> Run IPD across generations. Track what fraction of the population is in C vs D each generation. Find the strategy mixture θ = (</a:t>
            </a:r>
            <a:r>
              <a:rPr lang="en-IN" dirty="0" err="1"/>
              <a:t>θ_TFT</a:t>
            </a:r>
            <a:r>
              <a:rPr lang="en-IN" dirty="0"/>
              <a:t>, </a:t>
            </a:r>
            <a:r>
              <a:rPr lang="en-IN" dirty="0" err="1"/>
              <a:t>θ_AD</a:t>
            </a:r>
            <a:r>
              <a:rPr lang="en-IN" dirty="0"/>
              <a:t>, </a:t>
            </a:r>
            <a:r>
              <a:rPr lang="en-IN" dirty="0" err="1"/>
              <a:t>θ_AC</a:t>
            </a:r>
            <a:r>
              <a:rPr lang="en-IN" dirty="0"/>
              <a:t>, ...) that minimizes the error between your simulated P(C→D) and your observed one from Assignment 2.</a:t>
            </a:r>
          </a:p>
          <a:p>
            <a:r>
              <a:rPr lang="en-IN" b="1" dirty="0"/>
              <a:t>Step 6 — Run the experiments</a:t>
            </a:r>
            <a:endParaRPr lang="en-IN" dirty="0"/>
          </a:p>
          <a:p>
            <a:pPr lvl="0"/>
            <a:r>
              <a:rPr lang="en-IN" dirty="0"/>
              <a:t>Insert one AD agent in a TFT population — does gaming spread?</a:t>
            </a:r>
          </a:p>
          <a:p>
            <a:pPr lvl="0"/>
            <a:r>
              <a:rPr lang="en-IN" dirty="0"/>
              <a:t>Put the AD agent at a hub node vs a leaf node — does position matter?</a:t>
            </a:r>
          </a:p>
          <a:p>
            <a:pPr lvl="0"/>
            <a:r>
              <a:rPr lang="en-IN" dirty="0"/>
              <a:t>Compare TFT vs GTFT — does forgiveness help students recover?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922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7055A-B92E-322E-8BFF-13103BF55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F1E838-0FAC-C1C5-FC76-BA316584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00" y="1928943"/>
            <a:ext cx="11724293" cy="300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2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9C4CC-A5F1-9636-1A73-1A87F1C6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5219F8-51AE-6001-B424-8BB5783F0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478" y="883425"/>
            <a:ext cx="9325043" cy="50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256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0AED5-D37F-35E6-1DB1-D5BF714CE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4CBD78-22EA-3ED7-07F5-55B428A67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629" y="1566849"/>
            <a:ext cx="9210742" cy="372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27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035AF-9D7A-7FC1-5F6A-165DEA00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6B6459-D026-EFF7-DFBA-84D21F094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010" y="404790"/>
            <a:ext cx="9205980" cy="604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6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A23C8-F3E2-9FB7-36F6-C01EB365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FD1F1E-5602-0F40-F48F-CE7C06983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61" y="1210784"/>
            <a:ext cx="10616905" cy="432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84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DA6C-CF5C-9F05-3551-031F8B13D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E7F7772-074B-7432-A603-088E26860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03" y="1562086"/>
            <a:ext cx="9305993" cy="373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072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612F2-2CCA-DE0D-8D59-2FEF0C488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D51254-77DD-F1FE-EEE3-AB7CE2623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04" y="1650193"/>
            <a:ext cx="9077391" cy="355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80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2DFB5-B57D-76D7-9B75-BBB63098F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CE9D4D-1053-4966-6D49-479718206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29" y="1957376"/>
            <a:ext cx="9134542" cy="294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10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B8D8F-0C49-CBCB-F36E-682F25DF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5C5DA8-8F01-39EE-F3DB-B1C119241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408" y="154757"/>
            <a:ext cx="9663183" cy="654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33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6F0D-BB0A-D114-E6DD-FC246471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EB0D55-37CA-C3EA-B688-D7504971D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54" y="1314434"/>
            <a:ext cx="9039291" cy="422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82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806</Words>
  <Application>Microsoft Office PowerPoint</Application>
  <PresentationFormat>Widescreen</PresentationFormat>
  <Paragraphs>47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Hypothesis</vt:lpstr>
      <vt:lpstr>The Full Conceptual Chain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Kumar</dc:creator>
  <cp:lastModifiedBy>Rohan Kumar</cp:lastModifiedBy>
  <cp:revision>1</cp:revision>
  <dcterms:created xsi:type="dcterms:W3CDTF">2026-03-31T20:13:40Z</dcterms:created>
  <dcterms:modified xsi:type="dcterms:W3CDTF">2026-03-31T21:08:39Z</dcterms:modified>
</cp:coreProperties>
</file>